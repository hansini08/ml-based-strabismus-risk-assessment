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Horizon" panose="020B0604020202020204" charset="0"/>
      <p:regular r:id="rId20"/>
    </p:embeddedFont>
    <p:embeddedFont>
      <p:font typeface="Century Gothic Paneuropean" panose="020B0604020202020204" charset="0"/>
      <p:regular r:id="rId21"/>
    </p:embeddedFont>
    <p:embeddedFont>
      <p:font typeface="Century Gothic Paneuropean Bold" panose="020B0604020202020204" charset="0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Times New Roman Bold" panose="02020803070505020304" pitchFamily="18" charset="0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5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906271" cy="3511347"/>
            <a:chOff x="0" y="0"/>
            <a:chExt cx="466961" cy="4197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961" cy="419751"/>
            </a:xfrm>
            <a:custGeom>
              <a:avLst/>
              <a:gdLst/>
              <a:ahLst/>
              <a:cxnLst/>
              <a:rect l="l" t="t" r="r" b="b"/>
              <a:pathLst>
                <a:path w="466961" h="419751">
                  <a:moveTo>
                    <a:pt x="0" y="0"/>
                  </a:moveTo>
                  <a:lnTo>
                    <a:pt x="466961" y="0"/>
                  </a:lnTo>
                  <a:lnTo>
                    <a:pt x="466961" y="419751"/>
                  </a:lnTo>
                  <a:lnTo>
                    <a:pt x="0" y="419751"/>
                  </a:lnTo>
                  <a:close/>
                </a:path>
              </a:pathLst>
            </a:custGeom>
            <a:blipFill>
              <a:blip r:embed="rId2"/>
              <a:stretch>
                <a:fillRect t="-628" b="-62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90366" y="205520"/>
            <a:ext cx="16747464" cy="9378892"/>
            <a:chOff x="0" y="0"/>
            <a:chExt cx="22329952" cy="12505190"/>
          </a:xfrm>
        </p:grpSpPr>
        <p:sp>
          <p:nvSpPr>
            <p:cNvPr id="5" name="TextBox 5"/>
            <p:cNvSpPr txBox="1"/>
            <p:nvPr/>
          </p:nvSpPr>
          <p:spPr>
            <a:xfrm>
              <a:off x="4124956" y="3297113"/>
              <a:ext cx="14080040" cy="60109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052"/>
                </a:lnSpc>
              </a:pPr>
              <a:r>
                <a:rPr lang="en-US" sz="5766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ML based strabismus risk assessment system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325571" y="-171450"/>
              <a:ext cx="14895504" cy="21205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532"/>
                </a:lnSpc>
              </a:pPr>
              <a:r>
                <a:rPr lang="en-US" sz="416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UNIVERSITY COLLEGE OF ENGINEERING </a:t>
              </a:r>
            </a:p>
            <a:p>
              <a:pPr marL="0" lvl="0" indent="0" algn="ctr">
                <a:lnSpc>
                  <a:spcPts val="6532"/>
                </a:lnSpc>
              </a:pPr>
              <a:r>
                <a:rPr lang="en-US" sz="416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(BIT CAMPUS) TIRUCHIRAPPALLI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356519"/>
              <a:ext cx="22329952" cy="2148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95"/>
                </a:lnSpc>
              </a:pPr>
              <a:r>
                <a:rPr lang="en-US" sz="27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PRESENTED BY                                                                          GUIDED BY</a:t>
              </a:r>
            </a:p>
            <a:p>
              <a:pPr marL="0" lvl="0" indent="0" algn="l">
                <a:lnSpc>
                  <a:spcPts val="4395"/>
                </a:lnSpc>
              </a:pPr>
              <a:r>
                <a:rPr lang="en-US" sz="27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Abinaya K – 810022104071                                                          Mr.M. Krishna Kumar</a:t>
              </a:r>
            </a:p>
            <a:p>
              <a:pPr marL="0" lvl="0" indent="0" algn="l">
                <a:lnSpc>
                  <a:spcPts val="4395"/>
                </a:lnSpc>
              </a:pPr>
              <a:r>
                <a:rPr lang="en-US" sz="27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Hansini Chella A - 810022104107                                                 Department of Information Technology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0699" y="2202209"/>
            <a:ext cx="8022194" cy="117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</a:pPr>
            <a:r>
              <a:rPr lang="en-US" sz="8500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AIM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20224" y="4643091"/>
            <a:ext cx="13866603" cy="4761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002" lvl="1" indent="-266501" algn="l">
              <a:lnSpc>
                <a:spcPts val="4246"/>
              </a:lnSpc>
              <a:buFont typeface="Arial"/>
              <a:buChar char="•"/>
            </a:pPr>
            <a:r>
              <a:rPr lang="en-US" sz="2468" spc="13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develop an ML-based system for early detection of strabismus using eye images.</a:t>
            </a:r>
          </a:p>
          <a:p>
            <a:pPr marL="533002" lvl="1" indent="-266501" algn="l">
              <a:lnSpc>
                <a:spcPts val="4246"/>
              </a:lnSpc>
              <a:buFont typeface="Arial"/>
              <a:buChar char="•"/>
            </a:pPr>
            <a:r>
              <a:rPr lang="en-US" sz="2468" spc="13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integrate image analysis and clinical questionnaire data for accurate risk assessment.</a:t>
            </a:r>
          </a:p>
          <a:p>
            <a:pPr marL="533002" lvl="1" indent="-266501" algn="l">
              <a:lnSpc>
                <a:spcPts val="4246"/>
              </a:lnSpc>
              <a:buFont typeface="Arial"/>
              <a:buChar char="•"/>
            </a:pPr>
            <a:r>
              <a:rPr lang="en-US" sz="2468" spc="13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provide a user-friendly web application for public awareness and accessibility.</a:t>
            </a:r>
          </a:p>
          <a:p>
            <a:pPr marL="533002" lvl="1" indent="-266501" algn="l">
              <a:lnSpc>
                <a:spcPts val="4246"/>
              </a:lnSpc>
              <a:buFont typeface="Arial"/>
              <a:buChar char="•"/>
            </a:pPr>
            <a:r>
              <a:rPr lang="en-US" sz="2468" spc="13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generate risk levels (Low / Moderate / High) along with explanation and recommendation.</a:t>
            </a:r>
          </a:p>
          <a:p>
            <a:pPr marL="533002" lvl="1" indent="-266501" algn="l">
              <a:lnSpc>
                <a:spcPts val="4246"/>
              </a:lnSpc>
              <a:buFont typeface="Arial"/>
              <a:buChar char="•"/>
            </a:pPr>
            <a:r>
              <a:rPr lang="en-US" sz="2468" spc="13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reduce dependency on manual diagnosis and enable early screening.</a:t>
            </a:r>
          </a:p>
        </p:txBody>
      </p:sp>
      <p:sp>
        <p:nvSpPr>
          <p:cNvPr id="4" name="AutoShape 4"/>
          <p:cNvSpPr/>
          <p:nvPr/>
        </p:nvSpPr>
        <p:spPr>
          <a:xfrm>
            <a:off x="2210699" y="4069111"/>
            <a:ext cx="1384409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0699" y="2202209"/>
            <a:ext cx="8022194" cy="117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25"/>
              </a:lnSpc>
            </a:pPr>
            <a:r>
              <a:rPr lang="en-US" sz="8500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OBJECTIVE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38751" y="4650136"/>
            <a:ext cx="15420549" cy="4588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6389" lvl="1" indent="-258194" algn="l">
              <a:lnSpc>
                <a:spcPts val="4089"/>
              </a:lnSpc>
              <a:buFont typeface="Arial"/>
              <a:buChar char="•"/>
            </a:pPr>
            <a:r>
              <a:rPr lang="en-US" sz="2391" spc="126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design and develop an automated image-based strabismus detection system using CNN.</a:t>
            </a:r>
          </a:p>
          <a:p>
            <a:pPr marL="516389" lvl="1" indent="-258194" algn="l">
              <a:lnSpc>
                <a:spcPts val="4089"/>
              </a:lnSpc>
              <a:buFont typeface="Arial"/>
              <a:buChar char="•"/>
            </a:pPr>
            <a:r>
              <a:rPr lang="en-US" sz="2391" spc="126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implement transfer learning (MobileNetV2) for efficient feature extraction.</a:t>
            </a:r>
          </a:p>
          <a:p>
            <a:pPr marL="516389" lvl="1" indent="-258194" algn="l">
              <a:lnSpc>
                <a:spcPts val="4089"/>
              </a:lnSpc>
              <a:buFont typeface="Arial"/>
              <a:buChar char="•"/>
            </a:pPr>
            <a:r>
              <a:rPr lang="en-US" sz="2391" spc="126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develop a Machine Learning model (Logistic Regression) for analyzing structured questionnaire data.</a:t>
            </a:r>
          </a:p>
          <a:p>
            <a:pPr marL="516389" lvl="1" indent="-258194" algn="l">
              <a:lnSpc>
                <a:spcPts val="4089"/>
              </a:lnSpc>
              <a:buFont typeface="Arial"/>
              <a:buChar char="•"/>
            </a:pPr>
            <a:r>
              <a:rPr lang="en-US" sz="2391" spc="126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combine deep learning and machine learning outputs using score-level weighted fusion.</a:t>
            </a:r>
          </a:p>
          <a:p>
            <a:pPr marL="516389" lvl="1" indent="-258194" algn="l">
              <a:lnSpc>
                <a:spcPts val="4089"/>
              </a:lnSpc>
              <a:buFont typeface="Arial"/>
              <a:buChar char="•"/>
            </a:pPr>
            <a:r>
              <a:rPr lang="en-US" sz="2391" spc="126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classify risk levels into Low, Moderate, and High categories.</a:t>
            </a:r>
          </a:p>
          <a:p>
            <a:pPr marL="516389" lvl="1" indent="-258194" algn="l">
              <a:lnSpc>
                <a:spcPts val="4089"/>
              </a:lnSpc>
              <a:buFont typeface="Arial"/>
              <a:buChar char="•"/>
            </a:pPr>
            <a:r>
              <a:rPr lang="en-US" sz="2391" spc="126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build a real-time web-based interface for user interaction and result visualization.</a:t>
            </a:r>
          </a:p>
          <a:p>
            <a:pPr marL="516389" lvl="1" indent="-258194" algn="l">
              <a:lnSpc>
                <a:spcPts val="4089"/>
              </a:lnSpc>
              <a:buFont typeface="Arial"/>
              <a:buChar char="•"/>
            </a:pPr>
            <a:r>
              <a:rPr lang="en-US" sz="2391" spc="126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ensure computational efficiency suitable for academic and low-resource environments.</a:t>
            </a:r>
          </a:p>
        </p:txBody>
      </p:sp>
      <p:sp>
        <p:nvSpPr>
          <p:cNvPr id="4" name="AutoShape 4"/>
          <p:cNvSpPr/>
          <p:nvPr/>
        </p:nvSpPr>
        <p:spPr>
          <a:xfrm>
            <a:off x="2210699" y="4069111"/>
            <a:ext cx="1384409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28700" y="2163277"/>
          <a:ext cx="16230600" cy="6534149"/>
        </p:xfrm>
        <a:graphic>
          <a:graphicData uri="http://schemas.openxmlformats.org/drawingml/2006/table">
            <a:tbl>
              <a:tblPr/>
              <a:tblGrid>
                <a:gridCol w="912999"/>
                <a:gridCol w="3428377"/>
                <a:gridCol w="2261672"/>
                <a:gridCol w="1117231"/>
                <a:gridCol w="2814411"/>
                <a:gridCol w="3090432"/>
                <a:gridCol w="2605478"/>
              </a:tblGrid>
              <a:tr h="906002"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S.NO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TITLE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AUTHORS NAME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YEAR / PUBLISHER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METHOD / TECHNOLOGY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LIMITATIONS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FUTURE WORK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79209"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1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Mobile Strabismus Automatic Detection Method Combining Alternating Cover Test and Deep Learning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Tianlun Wang, Mengyi Jin, Changsheng Xu, Zuguo Liu, Xu Wang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2024, IEEE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Combines Alternating Cover Test with Deep Learning for automatic strabismus detection using mobile devices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Depends on controlled environment; limited dataset size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Improve real-time detection and expand dataset for better accuracy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1464"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2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Automated Strabismus Detection and Classification using Deep Learning Analysis of Facial Images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Mahsa Yarkheir, Motahhareh Sadeghi, Hamed Azarnoush, Mohammad Reza Akbari, Elias Khalili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2025, Scientific Reports (Nature)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Uses Deep Learning (CNN) to analyze facial images and classify strabismus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Requires large labeled dataset; performance depends on image quality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Use larger datasets and improve robustness for real-world conditions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7474"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3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Comparative Study of Deep Learning Models for Strabismus Diagnosing Using Facial Images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(Springer Authors)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2026, Springer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ar-EG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  <a:rtl/>
                        </a:rPr>
                        <a:t>مقارنة</a:t>
                      </a: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 multiple DL models (CNN, MobileNet, etc.) for best performance in strabismus detection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Model performance varies across datasets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r>
                        <a:rPr lang="en-US" sz="141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Optimize model selection and improve generalization</a:t>
                      </a:r>
                      <a:endParaRPr lang="en-US" sz="1100"/>
                    </a:p>
                  </a:txBody>
                  <a:tcPr marL="10025" marR="10025" marT="10025" marB="10025" anchor="ctr">
                    <a:lnL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9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-1016569" y="510225"/>
            <a:ext cx="10605415" cy="97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</a:pPr>
            <a:r>
              <a:rPr lang="en-US" sz="6100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Literature Survey: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514350" y="1373869"/>
          <a:ext cx="17259299" cy="7539261"/>
        </p:xfrm>
        <a:graphic>
          <a:graphicData uri="http://schemas.openxmlformats.org/drawingml/2006/table">
            <a:tbl>
              <a:tblPr/>
              <a:tblGrid>
                <a:gridCol w="795785"/>
                <a:gridCol w="3676969"/>
                <a:gridCol w="2924088"/>
                <a:gridCol w="1855760"/>
                <a:gridCol w="3075469"/>
                <a:gridCol w="2465614"/>
                <a:gridCol w="2465614"/>
              </a:tblGrid>
              <a:tr h="2844350"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4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Artificial Intelligence-Powered System for Detecting, Diagnosing, and Rehabilitating Strabismus Disorder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Alaa Daher, Mohammad Ayache, Amira J. Zaylaa, M. Zuhair Abo Hadba, Yousef Aycha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2023, IEEE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AI-based system integrating detection, diagnosis, and rehabilitation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Complex system design; requires multiple modules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Enhance automation and integrate real-time monitoring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0565"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5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AI-Enabled Automated Strabismus Detection and Corneal Deviation Analysis Using Image Processing Techniques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(Springer Authors)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2026, Springer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Uses image processing + AI to analyze corneal deviation and eye alignment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Limited real-world validation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Improve clinical validation and dataset diversity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4346"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6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Orthoptic Assessment of a Patient with Strabismus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(Springer Authors)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2024, Springer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Clinical assessment techniques like cover test, eye alignment analysis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No automation or AI involvement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32"/>
                        </a:lnSpc>
                        <a:defRPr/>
                      </a:pPr>
                      <a:r>
                        <a:rPr lang="en-US" sz="1962">
                          <a:solidFill>
                            <a:srgbClr val="FFFFFF"/>
                          </a:solidFill>
                          <a:latin typeface="Century Gothic Paneuropean"/>
                          <a:ea typeface="Century Gothic Paneuropean"/>
                          <a:cs typeface="Century Gothic Paneuropean"/>
                          <a:sym typeface="Century Gothic Paneuropean"/>
                        </a:rPr>
                        <a:t>Combine clinical methods with AI-based systems</a:t>
                      </a:r>
                      <a:endParaRPr lang="en-US" sz="1100"/>
                    </a:p>
                  </a:txBody>
                  <a:tcPr marL="13926" marR="13926" marT="13926" marB="13926" anchor="ctr">
                    <a:lnL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84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0699" y="2348767"/>
            <a:ext cx="8022194" cy="840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19"/>
              </a:lnSpc>
            </a:pPr>
            <a:r>
              <a:rPr lang="en-US" sz="6113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EXISTING SYSTEM: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10699" y="5029200"/>
            <a:ext cx="13866603" cy="374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299"/>
              </a:lnSpc>
              <a:buFont typeface="Arial"/>
              <a:buChar char="•"/>
            </a:pPr>
            <a:r>
              <a:rPr lang="en-US" sz="2499" spc="132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Existing systems rely on manual image upload without intelligent analysis</a:t>
            </a:r>
          </a:p>
          <a:p>
            <a:pPr marL="539749" lvl="1" indent="-269875" algn="l">
              <a:lnSpc>
                <a:spcPts val="4299"/>
              </a:lnSpc>
              <a:buFont typeface="Arial"/>
              <a:buChar char="•"/>
            </a:pPr>
            <a:r>
              <a:rPr lang="en-US" sz="2499" spc="132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No integration of clinical data with image-based detection</a:t>
            </a:r>
          </a:p>
          <a:p>
            <a:pPr marL="539749" lvl="1" indent="-269875" algn="l">
              <a:lnSpc>
                <a:spcPts val="4299"/>
              </a:lnSpc>
              <a:buFont typeface="Arial"/>
              <a:buChar char="•"/>
            </a:pPr>
            <a:r>
              <a:rPr lang="en-US" sz="2499" spc="132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Most systems provide only binary output (Yes/No) without risk levels</a:t>
            </a:r>
          </a:p>
          <a:p>
            <a:pPr marL="539749" lvl="1" indent="-269875" algn="l">
              <a:lnSpc>
                <a:spcPts val="4299"/>
              </a:lnSpc>
              <a:buFont typeface="Arial"/>
              <a:buChar char="•"/>
            </a:pPr>
            <a:r>
              <a:rPr lang="en-US" sz="2499" spc="132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Lack of real-time camera support</a:t>
            </a:r>
          </a:p>
          <a:p>
            <a:pPr marL="539749" lvl="1" indent="-269875" algn="l">
              <a:lnSpc>
                <a:spcPts val="4299"/>
              </a:lnSpc>
              <a:buFont typeface="Arial"/>
              <a:buChar char="•"/>
            </a:pPr>
            <a:r>
              <a:rPr lang="en-US" sz="2499" spc="132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Limited user-friendly interface for public usage</a:t>
            </a:r>
          </a:p>
          <a:p>
            <a:pPr marL="539749" lvl="1" indent="-269875" algn="l">
              <a:lnSpc>
                <a:spcPts val="4299"/>
              </a:lnSpc>
              <a:buFont typeface="Arial"/>
              <a:buChar char="•"/>
            </a:pPr>
            <a:r>
              <a:rPr lang="en-US" sz="2499" spc="132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No proper explanation or recommendation in results</a:t>
            </a:r>
          </a:p>
          <a:p>
            <a:pPr algn="l">
              <a:lnSpc>
                <a:spcPts val="4299"/>
              </a:lnSpc>
            </a:pPr>
            <a:endParaRPr lang="en-US" sz="2499" spc="132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210699" y="4069111"/>
            <a:ext cx="1384409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0699" y="2386608"/>
            <a:ext cx="8022194" cy="76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22"/>
              </a:lnSpc>
            </a:pPr>
            <a:r>
              <a:rPr lang="en-US" sz="5640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PROPOSED SYSTEM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01174" y="4652616"/>
            <a:ext cx="13866603" cy="429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299"/>
              </a:lnSpc>
              <a:buFont typeface="Arial"/>
              <a:buChar char="•"/>
            </a:pPr>
            <a:r>
              <a:rPr lang="en-US" sz="2499" spc="132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Developed an AI-based web system for strabismus detection</a:t>
            </a:r>
          </a:p>
          <a:p>
            <a:pPr marL="539749" lvl="1" indent="-269875" algn="l">
              <a:lnSpc>
                <a:spcPts val="4299"/>
              </a:lnSpc>
              <a:buFont typeface="Arial"/>
              <a:buChar char="•"/>
            </a:pPr>
            <a:r>
              <a:rPr lang="en-US" sz="2499" spc="132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Supports image upload and real-time camera capture</a:t>
            </a:r>
          </a:p>
          <a:p>
            <a:pPr marL="539749" lvl="1" indent="-269875" algn="l">
              <a:lnSpc>
                <a:spcPts val="4299"/>
              </a:lnSpc>
              <a:buFont typeface="Arial"/>
              <a:buChar char="•"/>
            </a:pPr>
            <a:r>
              <a:rPr lang="en-US" sz="2499" spc="132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Uses MobileNetV2 (Deep Learning model) for classification</a:t>
            </a:r>
          </a:p>
          <a:p>
            <a:pPr marL="539749" lvl="1" indent="-269875" algn="l">
              <a:lnSpc>
                <a:spcPts val="4299"/>
              </a:lnSpc>
              <a:buFont typeface="Arial"/>
              <a:buChar char="•"/>
            </a:pPr>
            <a:r>
              <a:rPr lang="en-US" sz="2499" spc="132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Integrates clinical questionnaire data for better accuracy</a:t>
            </a:r>
          </a:p>
          <a:p>
            <a:pPr marL="539749" lvl="1" indent="-269875" algn="l">
              <a:lnSpc>
                <a:spcPts val="4299"/>
              </a:lnSpc>
              <a:buFont typeface="Arial"/>
              <a:buChar char="•"/>
            </a:pPr>
            <a:r>
              <a:rPr lang="en-US" sz="2499" spc="132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Provides risk levels (Low / Moderate / High)</a:t>
            </a:r>
          </a:p>
          <a:p>
            <a:pPr marL="539749" lvl="1" indent="-269875" algn="l">
              <a:lnSpc>
                <a:spcPts val="4299"/>
              </a:lnSpc>
              <a:buFont typeface="Arial"/>
              <a:buChar char="•"/>
            </a:pPr>
            <a:r>
              <a:rPr lang="en-US" sz="2499" spc="132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Displays clear result with recommendation</a:t>
            </a:r>
          </a:p>
          <a:p>
            <a:pPr marL="539749" lvl="1" indent="-269875" algn="l">
              <a:lnSpc>
                <a:spcPts val="4299"/>
              </a:lnSpc>
              <a:buFont typeface="Arial"/>
              <a:buChar char="•"/>
            </a:pPr>
            <a:r>
              <a:rPr lang="en-US" sz="2499" spc="132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Simple and accessible for public use</a:t>
            </a:r>
          </a:p>
          <a:p>
            <a:pPr algn="l">
              <a:lnSpc>
                <a:spcPts val="4299"/>
              </a:lnSpc>
            </a:pPr>
            <a:endParaRPr lang="en-US" sz="2499" spc="132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210699" y="4069111"/>
            <a:ext cx="1384409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57022" y="0"/>
            <a:ext cx="12130978" cy="10287000"/>
            <a:chOff x="0" y="0"/>
            <a:chExt cx="319499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94990" cy="2709333"/>
            </a:xfrm>
            <a:custGeom>
              <a:avLst/>
              <a:gdLst/>
              <a:ahLst/>
              <a:cxnLst/>
              <a:rect l="l" t="t" r="r" b="b"/>
              <a:pathLst>
                <a:path w="3194990" h="2709333">
                  <a:moveTo>
                    <a:pt x="0" y="0"/>
                  </a:moveTo>
                  <a:lnTo>
                    <a:pt x="3194990" y="0"/>
                  </a:lnTo>
                  <a:lnTo>
                    <a:pt x="319499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19499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89569" y="4743291"/>
            <a:ext cx="5743766" cy="857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27"/>
              </a:lnSpc>
              <a:spcBef>
                <a:spcPct val="0"/>
              </a:spcBef>
            </a:pPr>
            <a:r>
              <a:rPr lang="en-US" sz="6025" b="1" u="none" strike="noStrike">
                <a:solidFill>
                  <a:srgbClr val="F6F6F7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ARCHITECTURE 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022" y="0"/>
            <a:ext cx="12130978" cy="10287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6611600" y="9486900"/>
            <a:ext cx="16764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0699" y="1392083"/>
            <a:ext cx="12559716" cy="76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22"/>
              </a:lnSpc>
            </a:pPr>
            <a:r>
              <a:rPr lang="en-US" sz="5640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METHODS AND TECHNIQUES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10699" y="3418205"/>
            <a:ext cx="15420549" cy="6711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I1.1mage Preprocessing :</a:t>
            </a: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  Resize, normalize, and detect face &amp; eye regions</a:t>
            </a:r>
          </a:p>
          <a:p>
            <a:pPr algn="l">
              <a:lnSpc>
                <a:spcPts val="2520"/>
              </a:lnSpc>
            </a:pPr>
            <a:endParaRPr lang="en-US" sz="1800" dirty="0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2.Feature Extraction :</a:t>
            </a: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  Extract features using MobileNetV2 (Transfer Learning)</a:t>
            </a:r>
          </a:p>
          <a:p>
            <a:pPr algn="l">
              <a:lnSpc>
                <a:spcPts val="2520"/>
              </a:lnSpc>
            </a:pPr>
            <a:endParaRPr lang="en-US" sz="1800" dirty="0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3.Classification :</a:t>
            </a: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  Classify images as Strabismus / Normal using CNN</a:t>
            </a:r>
          </a:p>
          <a:p>
            <a:pPr algn="l">
              <a:lnSpc>
                <a:spcPts val="2520"/>
              </a:lnSpc>
            </a:pPr>
            <a:endParaRPr lang="en-US" sz="1800" dirty="0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4.Questionnaire Processing :</a:t>
            </a: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  Encode and scale clinical input data</a:t>
            </a:r>
          </a:p>
          <a:p>
            <a:pPr algn="l">
              <a:lnSpc>
                <a:spcPts val="2520"/>
              </a:lnSpc>
            </a:pPr>
            <a:endParaRPr lang="en-US" sz="1800" dirty="0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5.Risk Prediction :</a:t>
            </a: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  Predict risk probability using Logistic Regression</a:t>
            </a:r>
          </a:p>
          <a:p>
            <a:pPr algn="l">
              <a:lnSpc>
                <a:spcPts val="2520"/>
              </a:lnSpc>
            </a:pPr>
            <a:endParaRPr lang="en-US" sz="1800" dirty="0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6.Fusion Technique :</a:t>
            </a: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  Combine image and questionnaire results using </a:t>
            </a:r>
            <a:r>
              <a:rPr lang="en-US" dirty="0" smtClean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rule based</a:t>
            </a:r>
            <a:r>
              <a:rPr lang="en-US" sz="1800" dirty="0" smtClean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fusion</a:t>
            </a:r>
          </a:p>
          <a:p>
            <a:pPr algn="l">
              <a:lnSpc>
                <a:spcPts val="2520"/>
              </a:lnSpc>
            </a:pPr>
            <a:endParaRPr lang="en-US" sz="1800" dirty="0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7.Final Output :</a:t>
            </a: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  Generate Low / Moderate / High risk classification</a:t>
            </a:r>
          </a:p>
          <a:p>
            <a:pPr algn="l">
              <a:lnSpc>
                <a:spcPts val="2520"/>
              </a:lnSpc>
            </a:pPr>
            <a:endParaRPr lang="en-US" sz="1800" dirty="0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210699" y="2888113"/>
            <a:ext cx="1384409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A6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81706" y="1053647"/>
            <a:ext cx="7015532" cy="885711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AutoShape 3"/>
          <p:cNvSpPr/>
          <p:nvPr/>
        </p:nvSpPr>
        <p:spPr>
          <a:xfrm>
            <a:off x="604296" y="376238"/>
            <a:ext cx="7015532" cy="8857116"/>
          </a:xfrm>
          <a:prstGeom prst="rect">
            <a:avLst/>
          </a:prstGeom>
          <a:solidFill>
            <a:srgbClr val="037DA4"/>
          </a:solidFill>
        </p:spPr>
      </p:sp>
      <p:sp>
        <p:nvSpPr>
          <p:cNvPr id="4" name="AutoShape 4"/>
          <p:cNvSpPr/>
          <p:nvPr/>
        </p:nvSpPr>
        <p:spPr>
          <a:xfrm>
            <a:off x="10668171" y="1053647"/>
            <a:ext cx="7015532" cy="8857116"/>
          </a:xfrm>
          <a:prstGeom prst="rect">
            <a:avLst/>
          </a:prstGeom>
          <a:solidFill>
            <a:srgbClr val="FFFFFF">
              <a:alpha val="97647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9990762" y="376237"/>
            <a:ext cx="7015532" cy="8857116"/>
          </a:xfrm>
          <a:prstGeom prst="rect">
            <a:avLst/>
          </a:prstGeom>
          <a:solidFill>
            <a:srgbClr val="037DA4"/>
          </a:solidFill>
        </p:spPr>
      </p:sp>
      <p:sp>
        <p:nvSpPr>
          <p:cNvPr id="6" name="TextBox 6"/>
          <p:cNvSpPr txBox="1"/>
          <p:nvPr/>
        </p:nvSpPr>
        <p:spPr>
          <a:xfrm>
            <a:off x="1739575" y="1598633"/>
            <a:ext cx="4744975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76"/>
              </a:lnSpc>
            </a:pPr>
            <a:r>
              <a:rPr lang="en-US" sz="4063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SOFTWARE REQUIREMENTS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1706" y="3476354"/>
            <a:ext cx="6338123" cy="480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7"/>
              </a:lnSpc>
            </a:pPr>
            <a:r>
              <a:rPr lang="en-US" sz="1988" spc="8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Operating System: Windows</a:t>
            </a:r>
          </a:p>
          <a:p>
            <a:pPr marL="0" lvl="0" indent="0" algn="l">
              <a:lnSpc>
                <a:spcPts val="3937"/>
              </a:lnSpc>
            </a:pPr>
            <a:r>
              <a:rPr lang="en-US" sz="1988" spc="8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Programming Language: Python 3.10</a:t>
            </a:r>
          </a:p>
          <a:p>
            <a:pPr marL="0" lvl="0" indent="0" algn="l">
              <a:lnSpc>
                <a:spcPts val="3937"/>
              </a:lnSpc>
            </a:pPr>
            <a:r>
              <a:rPr lang="en-US" sz="1988" spc="8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Libraries &amp; Tools:</a:t>
            </a:r>
          </a:p>
          <a:p>
            <a:pPr marL="0" lvl="0" indent="0" algn="l">
              <a:lnSpc>
                <a:spcPts val="3772"/>
              </a:lnSpc>
            </a:pPr>
            <a:r>
              <a:rPr lang="en-US" sz="1905" spc="85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▪ OpenCV – For image preprocessing</a:t>
            </a:r>
          </a:p>
          <a:p>
            <a:pPr marL="0" lvl="0" indent="0" algn="l">
              <a:lnSpc>
                <a:spcPts val="3772"/>
              </a:lnSpc>
            </a:pPr>
            <a:r>
              <a:rPr lang="en-US" sz="1905" spc="85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▪ TensorFlow (Keras) – For deep learning (MobileNetV2)</a:t>
            </a:r>
          </a:p>
          <a:p>
            <a:pPr marL="0" lvl="0" indent="0" algn="l">
              <a:lnSpc>
                <a:spcPts val="3772"/>
              </a:lnSpc>
            </a:pPr>
            <a:r>
              <a:rPr lang="en-US" sz="1905" spc="85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▪ scikit-learn – For Logistic Regression</a:t>
            </a:r>
          </a:p>
          <a:p>
            <a:pPr marL="0" lvl="0" indent="0" algn="l">
              <a:lnSpc>
                <a:spcPts val="3772"/>
              </a:lnSpc>
            </a:pPr>
            <a:r>
              <a:rPr lang="en-US" sz="1905" spc="85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▪ NumPy &amp; Pandas – For data handling</a:t>
            </a:r>
          </a:p>
          <a:p>
            <a:pPr marL="0" lvl="0" indent="0" algn="l">
              <a:lnSpc>
                <a:spcPts val="3937"/>
              </a:lnSpc>
            </a:pPr>
            <a:r>
              <a:rPr lang="en-US" sz="1988" spc="8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Development Tool: VS Code</a:t>
            </a:r>
          </a:p>
          <a:p>
            <a:pPr marL="0" lvl="0" indent="0" algn="l">
              <a:lnSpc>
                <a:spcPts val="3937"/>
              </a:lnSpc>
            </a:pPr>
            <a:r>
              <a:rPr lang="en-US" sz="1988" spc="8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Version Control: GitHub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26040" y="1598633"/>
            <a:ext cx="4744975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76"/>
              </a:lnSpc>
            </a:pPr>
            <a:r>
              <a:rPr lang="en-US" sz="4063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HARDWARE REQUIREMENTS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88955" y="3514454"/>
            <a:ext cx="5419145" cy="4432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49"/>
              </a:lnSpc>
            </a:pPr>
            <a:r>
              <a:rPr lang="en-US" sz="1983" spc="27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Processor: Intel i5 or higher</a:t>
            </a:r>
          </a:p>
          <a:p>
            <a:pPr marL="0" lvl="0" indent="0" algn="l">
              <a:lnSpc>
                <a:spcPts val="3549"/>
              </a:lnSpc>
            </a:pPr>
            <a:endParaRPr lang="en-US" sz="1983" spc="279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3549"/>
              </a:lnSpc>
            </a:pPr>
            <a:r>
              <a:rPr lang="en-US" sz="1983" spc="27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RAM: Minimum 8 GB (16 GB recommended)</a:t>
            </a:r>
          </a:p>
          <a:p>
            <a:pPr marL="0" lvl="0" indent="0" algn="l">
              <a:lnSpc>
                <a:spcPts val="3549"/>
              </a:lnSpc>
            </a:pPr>
            <a:endParaRPr lang="en-US" sz="1983" spc="279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3549"/>
              </a:lnSpc>
            </a:pPr>
            <a:r>
              <a:rPr lang="en-US" sz="1983" spc="27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Storage: Minimum 20 GB free space</a:t>
            </a:r>
          </a:p>
          <a:p>
            <a:pPr marL="0" lvl="0" indent="0" algn="l">
              <a:lnSpc>
                <a:spcPts val="3549"/>
              </a:lnSpc>
            </a:pPr>
            <a:endParaRPr lang="en-US" sz="1983" spc="279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3549"/>
              </a:lnSpc>
            </a:pPr>
            <a:r>
              <a:rPr lang="en-US" sz="1983" spc="27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Web Camera (Optional): For testing real-time images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94272" y="2736084"/>
            <a:ext cx="17158867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9148762" y="0"/>
            <a:ext cx="0" cy="1028700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594272" y="0"/>
            <a:ext cx="0" cy="1028700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402305" y="971550"/>
            <a:ext cx="5161130" cy="488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7"/>
              </a:lnSpc>
            </a:pPr>
            <a:r>
              <a:rPr lang="en-US" sz="2876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IMAGE DATASET DESCRIPTION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19149" y="981075"/>
            <a:ext cx="5722781" cy="1019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67"/>
              </a:lnSpc>
            </a:pPr>
            <a:r>
              <a:rPr lang="en-US" sz="2976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QUESTIONNAIRE DATASET DESCRIPTION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6061" y="3033565"/>
            <a:ext cx="6327323" cy="745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Source: Kaggle eye alignment dataset + Real-time collected eye images</a:t>
            </a:r>
          </a:p>
          <a:p>
            <a:pPr algn="l">
              <a:lnSpc>
                <a:spcPts val="2144"/>
              </a:lnSpc>
            </a:pPr>
            <a:endParaRPr lang="en-US" sz="1429" spc="138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Classes: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Normal Eyes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Strabismus (Crossed Eyes)</a:t>
            </a:r>
          </a:p>
          <a:p>
            <a:pPr algn="l">
              <a:lnSpc>
                <a:spcPts val="2144"/>
              </a:lnSpc>
            </a:pPr>
            <a:endParaRPr lang="en-US" sz="1429" spc="138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Preprocessing Steps: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Face detection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Both-eye region cropping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Resize to 224 × 224 pixels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Pixel normalization (0–1 scaling)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Removal of blurred and single-eye images</a:t>
            </a:r>
          </a:p>
          <a:p>
            <a:pPr algn="l">
              <a:lnSpc>
                <a:spcPts val="2144"/>
              </a:lnSpc>
            </a:pPr>
            <a:endParaRPr lang="en-US" sz="1429" spc="138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Dataset Split: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70% – Training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20% – Validation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10% – Testing</a:t>
            </a:r>
          </a:p>
          <a:p>
            <a:pPr algn="l">
              <a:lnSpc>
                <a:spcPts val="2144"/>
              </a:lnSpc>
            </a:pPr>
            <a:endParaRPr lang="en-US" sz="1429" spc="138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 Augmentation: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Horizontal flipping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Rotation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Brightness adjustment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Zoom variation</a:t>
            </a:r>
          </a:p>
          <a:p>
            <a:pPr algn="l">
              <a:lnSpc>
                <a:spcPts val="2144"/>
              </a:lnSpc>
            </a:pPr>
            <a:endParaRPr lang="en-US" sz="1429" spc="138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Purpose: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train MobileNetV2-based CNN for automated strabismus detection.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976" y="3033565"/>
            <a:ext cx="5753953" cy="638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Dataset Type: Structured CSV dataset</a:t>
            </a:r>
          </a:p>
          <a:p>
            <a:pPr algn="l">
              <a:lnSpc>
                <a:spcPts val="2144"/>
              </a:lnSpc>
            </a:pPr>
            <a:endParaRPr lang="en-US" sz="1429" spc="138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Input Features: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Age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Onset Type (Sudden / Gradual)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Double Vision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Headache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Diabetes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Thyroid Condition</a:t>
            </a:r>
          </a:p>
          <a:p>
            <a:pPr algn="l">
              <a:lnSpc>
                <a:spcPts val="2144"/>
              </a:lnSpc>
            </a:pPr>
            <a:endParaRPr lang="en-US" sz="1429" spc="138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Target Variable: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Risk Level (Low / Moderate / High)</a:t>
            </a:r>
          </a:p>
          <a:p>
            <a:pPr algn="l">
              <a:lnSpc>
                <a:spcPts val="2144"/>
              </a:lnSpc>
            </a:pPr>
            <a:endParaRPr lang="en-US" sz="1429" spc="138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Preprocessing: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Label encoding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Feature scaling (StandardScaler)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Train-test split</a:t>
            </a:r>
          </a:p>
          <a:p>
            <a:pPr algn="l">
              <a:lnSpc>
                <a:spcPts val="2144"/>
              </a:lnSpc>
            </a:pPr>
            <a:endParaRPr lang="en-US" sz="1429" spc="138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Model Used: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Logistic Regression</a:t>
            </a:r>
          </a:p>
          <a:p>
            <a:pPr algn="l">
              <a:lnSpc>
                <a:spcPts val="2144"/>
              </a:lnSpc>
            </a:pPr>
            <a:endParaRPr lang="en-US" sz="1429" spc="138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Purpose:</a:t>
            </a:r>
          </a:p>
          <a:p>
            <a:pPr algn="l">
              <a:lnSpc>
                <a:spcPts val="2144"/>
              </a:lnSpc>
            </a:pPr>
            <a:r>
              <a:rPr lang="en-US" sz="1429" spc="138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assess clinical risk factors contributing to strabismus.</a:t>
            </a:r>
          </a:p>
        </p:txBody>
      </p:sp>
      <p:sp>
        <p:nvSpPr>
          <p:cNvPr id="9" name="AutoShape 9"/>
          <p:cNvSpPr/>
          <p:nvPr/>
        </p:nvSpPr>
        <p:spPr>
          <a:xfrm>
            <a:off x="17753139" y="0"/>
            <a:ext cx="0" cy="1028700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7844" y="437359"/>
            <a:ext cx="13320291" cy="829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33"/>
              </a:lnSpc>
            </a:pPr>
            <a:r>
              <a:rPr lang="en-US" sz="6031" b="1">
                <a:solidFill>
                  <a:srgbClr val="F4F6F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Image Classification Module :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717844" y="1546352"/>
            <a:ext cx="16541456" cy="0"/>
          </a:xfrm>
          <a:prstGeom prst="line">
            <a:avLst/>
          </a:prstGeom>
          <a:ln w="38100" cap="flat">
            <a:solidFill>
              <a:srgbClr val="F4F6F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17601" y="1826062"/>
            <a:ext cx="4840824" cy="8452783"/>
            <a:chOff x="0" y="0"/>
            <a:chExt cx="6454432" cy="11270378"/>
          </a:xfrm>
        </p:grpSpPr>
        <p:sp>
          <p:nvSpPr>
            <p:cNvPr id="5" name="TextBox 5"/>
            <p:cNvSpPr txBox="1"/>
            <p:nvPr/>
          </p:nvSpPr>
          <p:spPr>
            <a:xfrm>
              <a:off x="0" y="-28575"/>
              <a:ext cx="6454432" cy="419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48"/>
                </a:lnSpc>
              </a:pPr>
              <a:r>
                <a:rPr lang="en-US" sz="1963" b="1" spc="157">
                  <a:solidFill>
                    <a:srgbClr val="050A3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PSEUDOCODE :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768535"/>
              <a:ext cx="6454432" cy="105018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799"/>
                </a:lnSpc>
              </a:pPr>
              <a:r>
                <a:rPr lang="en-US" sz="199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START</a:t>
              </a: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Load image dataset (train &amp; test)</a:t>
              </a:r>
            </a:p>
            <a:p>
              <a:pPr marL="0" lvl="0" indent="0" algn="just">
                <a:lnSpc>
                  <a:spcPts val="2079"/>
                </a:lnSpc>
              </a:pPr>
              <a:endParaRPr lang="en-US" sz="1485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Preprocess images:</a:t>
              </a: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Resize to 224×224</a:t>
              </a: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Normalize pixel values (0–1)</a:t>
              </a:r>
            </a:p>
            <a:p>
              <a:pPr marL="0" lvl="0" indent="0" algn="just">
                <a:lnSpc>
                  <a:spcPts val="2079"/>
                </a:lnSpc>
              </a:pPr>
              <a:endParaRPr lang="en-US" sz="1485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Apply data augmentation (training data)</a:t>
              </a:r>
            </a:p>
            <a:p>
              <a:pPr marL="0" lvl="0" indent="0" algn="just">
                <a:lnSpc>
                  <a:spcPts val="2079"/>
                </a:lnSpc>
              </a:pPr>
              <a:endParaRPr lang="en-US" sz="1485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Load MobileNetV2 (</a:t>
              </a:r>
              <a:r>
                <a:rPr lang="en-US" sz="1485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pretrained</a:t>
              </a: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)</a:t>
              </a: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Freeze base layers</a:t>
              </a:r>
            </a:p>
            <a:p>
              <a:pPr marL="0" lvl="0" indent="0" algn="just">
                <a:lnSpc>
                  <a:spcPts val="2079"/>
                </a:lnSpc>
              </a:pPr>
              <a:endParaRPr lang="en-US" sz="1485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Add custom layers:</a:t>
              </a: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</a:t>
              </a:r>
              <a:r>
                <a:rPr lang="en-US" sz="1485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GlobalAveragePooling</a:t>
              </a:r>
              <a:endParaRPr lang="en-US" sz="1485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Dense (</a:t>
              </a:r>
              <a:r>
                <a:rPr lang="en-US" sz="1485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ReLU</a:t>
              </a: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)</a:t>
              </a: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Dropout</a:t>
              </a: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Output layer (Sigmoid)</a:t>
              </a:r>
            </a:p>
            <a:p>
              <a:pPr marL="0" lvl="0" indent="0" algn="just">
                <a:lnSpc>
                  <a:spcPts val="2079"/>
                </a:lnSpc>
              </a:pPr>
              <a:endParaRPr lang="en-US" sz="1485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Compile model:</a:t>
              </a: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Loss → Binary </a:t>
              </a:r>
              <a:r>
                <a:rPr lang="en-US" sz="1485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Crossentropy</a:t>
              </a:r>
              <a:endParaRPr lang="en-US" sz="1485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Optimizer → Adam</a:t>
              </a:r>
            </a:p>
            <a:p>
              <a:pPr marL="0" lvl="0" indent="0" algn="just">
                <a:lnSpc>
                  <a:spcPts val="2079"/>
                </a:lnSpc>
              </a:pPr>
              <a:endParaRPr lang="en-US" sz="1485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Train model:</a:t>
              </a: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Forward pass</a:t>
              </a: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Compute loss</a:t>
              </a: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</a:t>
              </a:r>
              <a:r>
                <a:rPr lang="en-US" sz="1485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Backpropagation</a:t>
              </a:r>
              <a:endParaRPr lang="en-US" sz="1485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Update weights</a:t>
              </a:r>
            </a:p>
            <a:p>
              <a:pPr marL="0" lvl="0" indent="0" algn="just">
                <a:lnSpc>
                  <a:spcPts val="2079"/>
                </a:lnSpc>
              </a:pPr>
              <a:endParaRPr lang="en-US" sz="1485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just">
                <a:lnSpc>
                  <a:spcPts val="2079"/>
                </a:lnSpc>
              </a:pPr>
              <a:r>
                <a:rPr lang="en-US" sz="14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Validate model and save</a:t>
              </a:r>
            </a:p>
            <a:p>
              <a:pPr marL="0" lvl="0" indent="0" algn="just">
                <a:lnSpc>
                  <a:spcPts val="2799"/>
                </a:lnSpc>
              </a:pPr>
              <a:r>
                <a:rPr lang="en-US" sz="199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END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455200" y="1804631"/>
            <a:ext cx="7606848" cy="7625936"/>
            <a:chOff x="0" y="-28575"/>
            <a:chExt cx="10142463" cy="10167914"/>
          </a:xfrm>
        </p:grpSpPr>
        <p:sp>
          <p:nvSpPr>
            <p:cNvPr id="8" name="TextBox 8"/>
            <p:cNvSpPr txBox="1"/>
            <p:nvPr/>
          </p:nvSpPr>
          <p:spPr>
            <a:xfrm>
              <a:off x="0" y="-28575"/>
              <a:ext cx="10142463" cy="419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48"/>
                </a:lnSpc>
              </a:pPr>
              <a:r>
                <a:rPr lang="en-US" sz="1963" b="1" spc="157">
                  <a:solidFill>
                    <a:srgbClr val="050A3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CLASSIFICATION FORMULA &amp; PROBABILITY CALCULATION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72051"/>
              <a:ext cx="10142463" cy="896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</a:pPr>
              <a:r>
                <a:rPr lang="en-US" sz="209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🔹 Linear Transformation</a:t>
              </a:r>
            </a:p>
            <a:p>
              <a:pPr marL="0" lvl="0" indent="0" algn="l">
                <a:lnSpc>
                  <a:spcPts val="2219"/>
                </a:lnSpc>
              </a:pPr>
              <a:endParaRPr lang="en-US" sz="2099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342353" lvl="1" indent="-171177" algn="l">
                <a:lnSpc>
                  <a:spcPts val="2219"/>
                </a:lnSpc>
                <a:buFont typeface="Arial"/>
                <a:buChar char="•"/>
              </a:pP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z=</a:t>
              </a:r>
              <a:r>
                <a:rPr lang="en-US" sz="1585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w⋅x+bz</a:t>
              </a: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= w \</a:t>
              </a:r>
              <a:r>
                <a:rPr lang="en-US" sz="1585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cdot</a:t>
              </a: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x + </a:t>
              </a:r>
              <a:r>
                <a:rPr lang="en-US" sz="1585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bz</a:t>
              </a: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=</a:t>
              </a:r>
              <a:r>
                <a:rPr lang="en-US" sz="1585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w⋅x+b</a:t>
              </a: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xxx = extracted features</a:t>
              </a:r>
            </a:p>
            <a:p>
              <a:pPr marL="342353" lvl="1" indent="-171177" algn="l">
                <a:lnSpc>
                  <a:spcPts val="2219"/>
                </a:lnSpc>
                <a:buFont typeface="Arial"/>
                <a:buChar char="•"/>
              </a:pP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www = weights</a:t>
              </a:r>
            </a:p>
            <a:p>
              <a:pPr marL="342353" lvl="1" indent="-171177" algn="l">
                <a:lnSpc>
                  <a:spcPts val="2219"/>
                </a:lnSpc>
                <a:buFont typeface="Arial"/>
                <a:buChar char="•"/>
              </a:pPr>
              <a:r>
                <a:rPr lang="en-US" sz="1585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bbb</a:t>
              </a: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= bias</a:t>
              </a:r>
            </a:p>
            <a:p>
              <a:pPr marL="0" lvl="0" indent="0" algn="l">
                <a:lnSpc>
                  <a:spcPts val="2939"/>
                </a:lnSpc>
              </a:pPr>
              <a:endParaRPr lang="en-US" sz="1585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2939"/>
                </a:lnSpc>
              </a:pPr>
              <a:r>
                <a:rPr lang="en-US" sz="209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🔹 Sigmoid Function (Probability)</a:t>
              </a:r>
            </a:p>
            <a:p>
              <a:pPr marL="0" lvl="0" indent="0" algn="l">
                <a:lnSpc>
                  <a:spcPts val="2219"/>
                </a:lnSpc>
              </a:pPr>
              <a:endParaRPr lang="en-US" sz="2099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2219"/>
                </a:lnSpc>
              </a:pP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P=11+e−zP = \</a:t>
              </a:r>
              <a:r>
                <a:rPr lang="en-US" sz="1585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frac</a:t>
              </a: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{1}{1 + e^{-z}}P=1+e−z1​ 👉 Output range: 0 to 1 (probability)</a:t>
              </a:r>
            </a:p>
            <a:p>
              <a:pPr marL="0" lvl="0" indent="0" algn="l">
                <a:lnSpc>
                  <a:spcPts val="2219"/>
                </a:lnSpc>
              </a:pP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P≈1P \</a:t>
              </a:r>
              <a:r>
                <a:rPr lang="en-US" sz="1585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approx</a:t>
              </a: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1P≈1 → Strabismus </a:t>
              </a:r>
            </a:p>
            <a:p>
              <a:pPr marL="0" lvl="0" indent="0" algn="l">
                <a:lnSpc>
                  <a:spcPts val="2219"/>
                </a:lnSpc>
              </a:pP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P≈0P \</a:t>
              </a:r>
              <a:r>
                <a:rPr lang="en-US" sz="1585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approx</a:t>
              </a: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0P≈0 → Normal</a:t>
              </a:r>
            </a:p>
            <a:p>
              <a:pPr marL="0" lvl="0" indent="0" algn="l">
                <a:lnSpc>
                  <a:spcPts val="2939"/>
                </a:lnSpc>
              </a:pPr>
              <a:endParaRPr lang="en-US" sz="1585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2939"/>
                </a:lnSpc>
              </a:pPr>
              <a:r>
                <a:rPr lang="en-US" sz="209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🔹 Loss Function</a:t>
              </a:r>
            </a:p>
            <a:p>
              <a:pPr marL="0" lvl="0" indent="0" algn="l">
                <a:lnSpc>
                  <a:spcPts val="2219"/>
                </a:lnSpc>
              </a:pPr>
              <a:endParaRPr lang="en-US" sz="2099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2219"/>
                </a:lnSpc>
              </a:pP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L=−[</a:t>
              </a:r>
              <a:r>
                <a:rPr lang="en-US" sz="1585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ylog</a:t>
              </a: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⁡(p)+(1−y)log⁡(1−p)]L = -[y \log(p) + (1-y)\log(1-p)]L=−[</a:t>
              </a:r>
              <a:r>
                <a:rPr lang="en-US" sz="1585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ylog</a:t>
              </a: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(p)+(1−y)log(1−p)]</a:t>
              </a:r>
            </a:p>
            <a:p>
              <a:pPr marL="0" lvl="0" indent="0" algn="l">
                <a:lnSpc>
                  <a:spcPts val="2939"/>
                </a:lnSpc>
              </a:pPr>
              <a:endParaRPr lang="en-US" sz="1585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2939"/>
                </a:lnSpc>
              </a:pPr>
              <a:r>
                <a:rPr lang="en-US" sz="209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🔹 Final Decision Rule</a:t>
              </a:r>
            </a:p>
            <a:p>
              <a:pPr marL="0" lvl="0" indent="0" algn="l">
                <a:lnSpc>
                  <a:spcPts val="2219"/>
                </a:lnSpc>
              </a:pPr>
              <a:endParaRPr lang="en-US" sz="2099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2219"/>
                </a:lnSpc>
              </a:pP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If P ≥ 0.5 → Strabismus</a:t>
              </a:r>
            </a:p>
            <a:p>
              <a:pPr marL="0" lvl="0" indent="0" algn="l">
                <a:lnSpc>
                  <a:spcPts val="2219"/>
                </a:lnSpc>
              </a:pPr>
              <a:r>
                <a:rPr lang="en-US" sz="1585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Else → Normal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2200" y="1774820"/>
            <a:ext cx="16879801" cy="8139056"/>
            <a:chOff x="0" y="0"/>
            <a:chExt cx="22506402" cy="10852075"/>
          </a:xfrm>
        </p:grpSpPr>
        <p:sp>
          <p:nvSpPr>
            <p:cNvPr id="3" name="TextBox 3"/>
            <p:cNvSpPr txBox="1"/>
            <p:nvPr/>
          </p:nvSpPr>
          <p:spPr>
            <a:xfrm>
              <a:off x="11780267" y="1443573"/>
              <a:ext cx="10726135" cy="7382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21"/>
                </a:lnSpc>
              </a:pP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🔹 Logistic Regression Probability</a:t>
              </a:r>
            </a:p>
            <a:p>
              <a:pPr marL="0" lvl="0" indent="0" algn="l">
                <a:lnSpc>
                  <a:spcPts val="2921"/>
                </a:lnSpc>
              </a:pP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P=11+e−zP = \</a:t>
              </a:r>
              <a:r>
                <a:rPr lang="en-US" sz="1600" u="none" strike="noStrike" spc="169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frac</a:t>
              </a: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{1}{1 + e^{-z}}P=1+e−z1​</a:t>
              </a:r>
            </a:p>
            <a:p>
              <a:pPr marL="0" lvl="0" indent="0" algn="l">
                <a:lnSpc>
                  <a:spcPts val="2921"/>
                </a:lnSpc>
              </a:pPr>
              <a:endParaRPr lang="en-US" sz="1600" u="none" strike="noStrike" spc="169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2921"/>
                </a:lnSpc>
              </a:pP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🔹 Linear Combination</a:t>
              </a:r>
            </a:p>
            <a:p>
              <a:pPr marL="0" lvl="0" indent="0" algn="l">
                <a:lnSpc>
                  <a:spcPts val="2921"/>
                </a:lnSpc>
              </a:pP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z=w1x1+w2x2+⋯+</a:t>
              </a:r>
              <a:r>
                <a:rPr lang="en-US" sz="1600" u="none" strike="noStrike" spc="169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wnxn+bz</a:t>
              </a: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= w_1x_1 + w_2x_2 + \dots + </a:t>
              </a:r>
              <a:r>
                <a:rPr lang="en-US" sz="1600" u="none" strike="noStrike" spc="169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w_nx_n</a:t>
              </a: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+ </a:t>
              </a:r>
              <a:r>
                <a:rPr lang="en-US" sz="1600" u="none" strike="noStrike" spc="169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bz</a:t>
              </a: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=w1​x1​+w2​x2​+⋯+</a:t>
              </a:r>
              <a:r>
                <a:rPr lang="en-US" sz="1600" u="none" strike="noStrike" spc="169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wn</a:t>
              </a: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​</a:t>
              </a:r>
              <a:r>
                <a:rPr lang="en-US" sz="1600" u="none" strike="noStrike" spc="169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xn</a:t>
              </a: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​+b xxx → input features (questionnaire data) </a:t>
              </a:r>
            </a:p>
            <a:p>
              <a:pPr marL="0" lvl="0" indent="0" algn="l">
                <a:lnSpc>
                  <a:spcPts val="2921"/>
                </a:lnSpc>
              </a:pP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www → weights </a:t>
              </a:r>
            </a:p>
            <a:p>
              <a:pPr marL="0" lvl="0" indent="0" algn="l">
                <a:lnSpc>
                  <a:spcPts val="2921"/>
                </a:lnSpc>
              </a:pPr>
              <a:r>
                <a:rPr lang="en-US" sz="1600" u="none" strike="noStrike" spc="169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bbb</a:t>
              </a: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→ bias</a:t>
              </a:r>
            </a:p>
            <a:p>
              <a:pPr marL="0" lvl="0" indent="0" algn="l">
                <a:lnSpc>
                  <a:spcPts val="2921"/>
                </a:lnSpc>
              </a:pPr>
              <a:endParaRPr lang="en-US" sz="1600" u="none" strike="noStrike" spc="169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2921"/>
                </a:lnSpc>
              </a:pP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🔹 Risk Classification (3 Categories)</a:t>
              </a:r>
            </a:p>
            <a:p>
              <a:pPr marL="0" lvl="0" indent="0" algn="l">
                <a:lnSpc>
                  <a:spcPts val="2921"/>
                </a:lnSpc>
              </a:pP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Risk={</a:t>
              </a:r>
              <a:r>
                <a:rPr lang="en-US" sz="1600" u="none" strike="noStrike" spc="169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Low,P</a:t>
              </a: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&lt;0.33Moderate,0.33≤P&lt;0.66High,P≥0.66\text{Risk} = \begin{cases} \text{Low}, &amp; P &lt; 0.33 \\ \text{Moderate}, &amp; 0.33 \le P &lt; 0.66 \\ \text{High}, &amp; P \</a:t>
              </a:r>
              <a:r>
                <a:rPr lang="en-US" sz="1600" u="none" strike="noStrike" spc="169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ge</a:t>
              </a: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0.66 \end{cases}Risk=⎩⎨⎧​</a:t>
              </a:r>
              <a:r>
                <a:rPr lang="en-US" sz="1600" u="none" strike="noStrike" spc="169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Low,Moderate,High</a:t>
              </a:r>
              <a:r>
                <a:rPr lang="en-US" sz="1600" u="none" strike="noStrike" spc="169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,​P&lt;0.330.33≤P&lt;0.66P≥0.66​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0345" y="1247077"/>
              <a:ext cx="7455682" cy="9604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0"/>
                </a:lnSpc>
              </a:pPr>
              <a:r>
                <a:rPr lang="en-US" sz="1431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START</a:t>
              </a: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Load dataset (questionnaire data)</a:t>
              </a:r>
            </a:p>
            <a:p>
              <a:pPr marL="0" lvl="0" indent="0" algn="l">
                <a:lnSpc>
                  <a:spcPts val="1990"/>
                </a:lnSpc>
              </a:pPr>
              <a:endParaRPr lang="en-US" sz="1431" u="none" strike="noStrike" spc="194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Check class distribution</a:t>
              </a:r>
            </a:p>
            <a:p>
              <a:pPr marL="0" lvl="0" indent="0" algn="l">
                <a:lnSpc>
                  <a:spcPts val="1990"/>
                </a:lnSpc>
              </a:pPr>
              <a:endParaRPr lang="en-US" sz="1431" u="none" strike="noStrike" spc="194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Split data:</a:t>
              </a: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X → input features</a:t>
              </a: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y → Risk label</a:t>
              </a:r>
            </a:p>
            <a:p>
              <a:pPr marL="0" lvl="0" indent="0" algn="l">
                <a:lnSpc>
                  <a:spcPts val="1990"/>
                </a:lnSpc>
              </a:pPr>
              <a:endParaRPr lang="en-US" sz="1431" u="none" strike="noStrike" spc="194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Perform train-test split (80% train, 20% test)</a:t>
              </a:r>
            </a:p>
            <a:p>
              <a:pPr marL="0" lvl="0" indent="0" algn="l">
                <a:lnSpc>
                  <a:spcPts val="1990"/>
                </a:lnSpc>
              </a:pPr>
              <a:endParaRPr lang="en-US" sz="1431" u="none" strike="noStrike" spc="194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Apply feature scaling:</a:t>
              </a: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</a:t>
              </a:r>
              <a:r>
                <a:rPr lang="en-US" sz="1431" u="none" strike="noStrike" spc="194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StandardScaler</a:t>
              </a:r>
              <a:endParaRPr lang="en-US" sz="1431" u="none" strike="noStrike" spc="194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1990"/>
                </a:lnSpc>
              </a:pPr>
              <a:endParaRPr lang="en-US" sz="1431" u="none" strike="noStrike" spc="194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Train Logistic Regression model:</a:t>
              </a: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Fit model on training data</a:t>
              </a:r>
            </a:p>
            <a:p>
              <a:pPr marL="0" lvl="0" indent="0" algn="l">
                <a:lnSpc>
                  <a:spcPts val="1990"/>
                </a:lnSpc>
              </a:pPr>
              <a:endParaRPr lang="en-US" sz="1431" u="none" strike="noStrike" spc="194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Predict on test data:</a:t>
              </a: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</a:t>
              </a:r>
              <a:r>
                <a:rPr lang="en-US" sz="1431" u="none" strike="noStrike" spc="194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y_pred</a:t>
              </a: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= </a:t>
              </a:r>
              <a:r>
                <a:rPr lang="en-US" sz="1431" u="none" strike="noStrike" spc="194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model.predict</a:t>
              </a: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(</a:t>
              </a:r>
              <a:r>
                <a:rPr lang="en-US" sz="1431" u="none" strike="noStrike" spc="194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X_test</a:t>
              </a: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)</a:t>
              </a:r>
            </a:p>
            <a:p>
              <a:pPr marL="0" lvl="0" indent="0" algn="l">
                <a:lnSpc>
                  <a:spcPts val="1990"/>
                </a:lnSpc>
              </a:pPr>
              <a:endParaRPr lang="en-US" sz="1431" u="none" strike="noStrike" spc="194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Evaluate model:</a:t>
              </a: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Accuracy</a:t>
              </a: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Confusion Matrix</a:t>
              </a: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    Classification Report</a:t>
              </a:r>
            </a:p>
            <a:p>
              <a:pPr marL="0" lvl="0" indent="0" algn="l">
                <a:lnSpc>
                  <a:spcPts val="1990"/>
                </a:lnSpc>
              </a:pPr>
              <a:endParaRPr lang="en-US" sz="1431" u="none" strike="noStrike" spc="194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Visualize performance (graphs)</a:t>
              </a:r>
            </a:p>
            <a:p>
              <a:pPr marL="0" lvl="0" indent="0" algn="l">
                <a:lnSpc>
                  <a:spcPts val="1990"/>
                </a:lnSpc>
              </a:pPr>
              <a:endParaRPr lang="en-US" sz="1431" u="none" strike="noStrike" spc="194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Save model and </a:t>
              </a:r>
              <a:r>
                <a:rPr lang="en-US" sz="1431" u="none" strike="noStrike" spc="194" dirty="0" err="1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scaler</a:t>
              </a:r>
              <a:endParaRPr lang="en-US" sz="1431" u="none" strike="noStrike" spc="194" dirty="0">
                <a:solidFill>
                  <a:srgbClr val="F4F6F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  <a:p>
              <a:pPr marL="0" lvl="0" indent="0" algn="l">
                <a:lnSpc>
                  <a:spcPts val="1990"/>
                </a:lnSpc>
              </a:pPr>
              <a:r>
                <a:rPr lang="en-US" sz="1431" u="none" strike="noStrike" spc="194" dirty="0">
                  <a:solidFill>
                    <a:srgbClr val="F4F6FC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END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20345" y="10265358"/>
              <a:ext cx="9668569" cy="458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41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9668569" cy="4583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4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46313" y="443873"/>
            <a:ext cx="14851503" cy="2098745"/>
            <a:chOff x="0" y="171450"/>
            <a:chExt cx="19802004" cy="2798326"/>
          </a:xfrm>
        </p:grpSpPr>
        <p:sp>
          <p:nvSpPr>
            <p:cNvPr id="8" name="TextBox 8"/>
            <p:cNvSpPr txBox="1"/>
            <p:nvPr/>
          </p:nvSpPr>
          <p:spPr>
            <a:xfrm>
              <a:off x="0" y="171450"/>
              <a:ext cx="19099402" cy="1032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349"/>
                </a:lnSpc>
                <a:spcBef>
                  <a:spcPct val="0"/>
                </a:spcBef>
              </a:pPr>
              <a:r>
                <a:rPr lang="en-US" sz="5943" b="1" u="none" strike="noStrike">
                  <a:solidFill>
                    <a:srgbClr val="F4F6FC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Questionnaire-Based Risk Module: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84160" y="2621861"/>
              <a:ext cx="9117844" cy="347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49"/>
                </a:lnSpc>
                <a:spcBef>
                  <a:spcPct val="0"/>
                </a:spcBef>
              </a:pPr>
              <a:r>
                <a:rPr lang="en-US" sz="2054" b="1" u="none" strike="noStrike" spc="164" dirty="0">
                  <a:solidFill>
                    <a:srgbClr val="050A3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RISK PROBABILITY &amp; CLASSIFICATION FORMULA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1172590" y="1735210"/>
            <a:ext cx="14843369" cy="0"/>
          </a:xfrm>
          <a:prstGeom prst="line">
            <a:avLst/>
          </a:prstGeom>
          <a:ln w="19050" cap="flat">
            <a:solidFill>
              <a:srgbClr val="F4F6F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146313" y="2177380"/>
            <a:ext cx="215478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1"/>
              </a:lnSpc>
            </a:pPr>
            <a:r>
              <a:rPr lang="en-US" sz="2059" b="1" spc="164" dirty="0">
                <a:solidFill>
                  <a:srgbClr val="050A3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PSEUDOCODE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990600" y="3162300"/>
            <a:ext cx="4340225" cy="2667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0998"/>
              </a:lnSpc>
            </a:pPr>
            <a:r>
              <a:rPr lang="en-US" sz="6000" b="1" spc="373" dirty="0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OUTPUT SCREENS :</a:t>
            </a:r>
          </a:p>
        </p:txBody>
      </p:sp>
      <p:sp>
        <p:nvSpPr>
          <p:cNvPr id="10" name="AutoShape 2" descr="blob:https://web.whatsapp.com/72568445-821a-407b-811a-7ebe5f80fe8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4" descr="blob:https://web.whatsapp.com/72568445-821a-407b-811a-7ebe5f80fe8d"/>
          <p:cNvSpPr>
            <a:spLocks noChangeAspect="1" noChangeArrowheads="1"/>
          </p:cNvSpPr>
          <p:nvPr/>
        </p:nvSpPr>
        <p:spPr bwMode="auto">
          <a:xfrm>
            <a:off x="7696200" y="209550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6" descr="blob:https://web.whatsapp.com/72568445-821a-407b-811a-7ebe5f80fe8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00" y="343581"/>
            <a:ext cx="10058400" cy="47800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586" y="5287185"/>
            <a:ext cx="10058400" cy="46787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14300"/>
            <a:ext cx="6833222" cy="10058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119743"/>
            <a:ext cx="6629400" cy="10052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0699" y="2252156"/>
            <a:ext cx="8022194" cy="106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44"/>
              </a:lnSpc>
            </a:pPr>
            <a:r>
              <a:rPr lang="en-US" sz="7756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 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10699" y="4633566"/>
            <a:ext cx="13866603" cy="392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60"/>
              </a:lnSpc>
            </a:pPr>
            <a:r>
              <a:rPr lang="en-US" sz="22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project presents a hybrid Machine Learning and Deep Learning based system for automated detection and risk assessment of Strabismus using facial image analysis and structured clinical inputs. By integrating a Convolutional Neural Network (MobileNetV2) for eye alignment detection with a Logistic Regression model for symptom-based risk analysis, the system provides reliable and efficient screening support. The use of score-level weighted fusion enhances prediction accuracy by combining visual and clinical features. The proposed approach is computationally efficient, suitable for real-time applications, and can assist in early identification of strabismus, thereby enabling timely medical consultation and reducing dependency on manual examination.</a:t>
            </a:r>
          </a:p>
        </p:txBody>
      </p:sp>
      <p:sp>
        <p:nvSpPr>
          <p:cNvPr id="4" name="AutoShape 4"/>
          <p:cNvSpPr/>
          <p:nvPr/>
        </p:nvSpPr>
        <p:spPr>
          <a:xfrm>
            <a:off x="2210699" y="4069111"/>
            <a:ext cx="1384409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93341" y="2288104"/>
            <a:ext cx="14501319" cy="117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25"/>
              </a:lnSpc>
            </a:pPr>
            <a:r>
              <a:rPr lang="en-US" sz="8500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FUTURE WORK :</a:t>
            </a:r>
          </a:p>
        </p:txBody>
      </p:sp>
      <p:sp>
        <p:nvSpPr>
          <p:cNvPr id="3" name="AutoShape 3"/>
          <p:cNvSpPr/>
          <p:nvPr/>
        </p:nvSpPr>
        <p:spPr>
          <a:xfrm>
            <a:off x="1893341" y="4303167"/>
            <a:ext cx="1450131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7793743" y="5019675"/>
            <a:ext cx="3568923" cy="296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6"/>
              </a:lnSpc>
            </a:pPr>
            <a:r>
              <a:rPr lang="en-US" sz="1853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2. Mobile Application Development :</a:t>
            </a:r>
          </a:p>
          <a:p>
            <a:pPr marL="0" lvl="0" indent="0" algn="l">
              <a:lnSpc>
                <a:spcPts val="3446"/>
              </a:lnSpc>
            </a:pPr>
            <a:endParaRPr lang="en-US" sz="1853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3446"/>
              </a:lnSpc>
            </a:pPr>
            <a:r>
              <a:rPr lang="en-US" sz="1853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Develop a mobile app to enable real-time eye analysis using smartphone camera for easy public access.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55015" y="5064253"/>
            <a:ext cx="3879712" cy="2973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9"/>
              </a:lnSpc>
            </a:pPr>
            <a:r>
              <a:rPr lang="en-US" sz="1853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3.Improved Accuracy with Advanced Models :</a:t>
            </a:r>
          </a:p>
          <a:p>
            <a:pPr marL="0" lvl="0" indent="0" algn="l">
              <a:lnSpc>
                <a:spcPts val="3409"/>
              </a:lnSpc>
            </a:pPr>
            <a:endParaRPr lang="en-US" sz="1853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0" lvl="0" indent="0" algn="l">
              <a:lnSpc>
                <a:spcPts val="3409"/>
              </a:lnSpc>
            </a:pPr>
            <a:r>
              <a:rPr lang="en-US" sz="1853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 advanced deep learning models and larger datasets to improve precision, robustness, and real-world performance.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93341" y="5019675"/>
            <a:ext cx="4408054" cy="297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8"/>
              </a:lnSpc>
            </a:pPr>
            <a:r>
              <a:rPr lang="en-US" sz="1853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1. Strabismus Type Classification :</a:t>
            </a:r>
          </a:p>
          <a:p>
            <a:pPr algn="l">
              <a:lnSpc>
                <a:spcPts val="3428"/>
              </a:lnSpc>
            </a:pPr>
            <a:endParaRPr lang="en-US" sz="1853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3428"/>
              </a:lnSpc>
            </a:pPr>
            <a:r>
              <a:rPr lang="en-US" sz="1853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Extend the system to classify different types of strabismus such as Esotropia, Exotropia, Hypertropia, and Hypotropia instead of only detecting presence.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7D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88155" y="595545"/>
            <a:ext cx="11613175" cy="25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244" lvl="1" indent="-155622" algn="l">
              <a:lnSpc>
                <a:spcPts val="2162"/>
              </a:lnSpc>
              <a:buAutoNum type="arabicPeriod"/>
            </a:pPr>
            <a:endParaRPr lang="en-US" sz="1441" u="none" strike="noStrike" dirty="0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188155" y="1616944"/>
            <a:ext cx="11613175" cy="25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244" lvl="1" indent="-155622" algn="l">
              <a:lnSpc>
                <a:spcPts val="2162"/>
              </a:lnSpc>
              <a:buAutoNum type="arabicPeriod"/>
            </a:pPr>
            <a:endParaRPr lang="en-US" sz="1441" u="none" strike="noStrike" dirty="0">
              <a:solidFill>
                <a:srgbClr val="FFFFFF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93595" y="4800600"/>
            <a:ext cx="6846103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b="1" u="none" strike="noStrik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REFERENCES :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5880990" y="0"/>
            <a:ext cx="0" cy="10287000"/>
          </a:xfrm>
          <a:prstGeom prst="line">
            <a:avLst/>
          </a:prstGeom>
          <a:ln w="571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6217184" y="854783"/>
            <a:ext cx="11613175" cy="780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000" dirty="0" smtClean="0">
                <a:solidFill>
                  <a:schemeClr val="bg1"/>
                </a:solidFill>
              </a:rPr>
              <a:t>Wang</a:t>
            </a:r>
            <a:r>
              <a:rPr lang="en-US" sz="2000" dirty="0">
                <a:solidFill>
                  <a:schemeClr val="bg1"/>
                </a:solidFill>
              </a:rPr>
              <a:t>, T., et al., “Mobile Strabismus Automatic Detection Method Combining Alternating Cover Test and Deep Learning,” IEEE, </a:t>
            </a:r>
            <a:r>
              <a:rPr lang="en-US" sz="2000" dirty="0" smtClean="0">
                <a:solidFill>
                  <a:schemeClr val="bg1"/>
                </a:solidFill>
              </a:rPr>
              <a:t>2024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000" dirty="0" smtClean="0">
                <a:solidFill>
                  <a:schemeClr val="bg1"/>
                </a:solidFill>
              </a:rPr>
              <a:t>.</a:t>
            </a:r>
            <a:r>
              <a:rPr lang="en-US" sz="2000" dirty="0" err="1" smtClean="0">
                <a:solidFill>
                  <a:schemeClr val="bg1"/>
                </a:solidFill>
              </a:rPr>
              <a:t>Yarkheir</a:t>
            </a:r>
            <a:r>
              <a:rPr lang="en-US" sz="2000" dirty="0">
                <a:solidFill>
                  <a:schemeClr val="bg1"/>
                </a:solidFill>
              </a:rPr>
              <a:t>, M., et al., “Automated Strabismus Detection and Classification using Deep Learning Analysis of Facial Images,” Scientific Reports (Nature), 2025.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000" dirty="0" err="1" smtClean="0">
                <a:solidFill>
                  <a:schemeClr val="bg1"/>
                </a:solidFill>
              </a:rPr>
              <a:t>Garg</a:t>
            </a:r>
            <a:r>
              <a:rPr lang="en-US" sz="2000" dirty="0">
                <a:solidFill>
                  <a:schemeClr val="bg1"/>
                </a:solidFill>
              </a:rPr>
              <a:t>, S., et al., “</a:t>
            </a:r>
            <a:r>
              <a:rPr lang="en-US" sz="2000" dirty="0" err="1">
                <a:solidFill>
                  <a:schemeClr val="bg1"/>
                </a:solidFill>
              </a:rPr>
              <a:t>StrabNet</a:t>
            </a:r>
            <a:r>
              <a:rPr lang="en-US" sz="2000" dirty="0">
                <a:solidFill>
                  <a:schemeClr val="bg1"/>
                </a:solidFill>
              </a:rPr>
              <a:t>-CQ: Deep Learning Framework for Strabismus Detection and Quantification,” Springer, 2025.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000" dirty="0" smtClean="0">
                <a:solidFill>
                  <a:schemeClr val="bg1"/>
                </a:solidFill>
              </a:rPr>
              <a:t>Santos</a:t>
            </a:r>
            <a:r>
              <a:rPr lang="en-US" sz="2000" dirty="0">
                <a:solidFill>
                  <a:schemeClr val="bg1"/>
                </a:solidFill>
              </a:rPr>
              <a:t>, R.D., et al., “Deep Learning Approach using Cover Test Video Analysis for Strabismus Detection,” Expert Systems with Applications, 2025.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000" dirty="0" smtClean="0">
                <a:solidFill>
                  <a:schemeClr val="bg1"/>
                </a:solidFill>
              </a:rPr>
              <a:t>Yang</a:t>
            </a:r>
            <a:r>
              <a:rPr lang="en-US" sz="2000" dirty="0">
                <a:solidFill>
                  <a:schemeClr val="bg1"/>
                </a:solidFill>
              </a:rPr>
              <a:t>, Z., et al., “Systematic Review and Meta-analysis of AI for Strabismus Detection,” 2025.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000" dirty="0" err="1" smtClean="0">
                <a:solidFill>
                  <a:schemeClr val="bg1"/>
                </a:solidFill>
              </a:rPr>
              <a:t>Daher</a:t>
            </a:r>
            <a:r>
              <a:rPr lang="en-US" sz="2000" dirty="0">
                <a:solidFill>
                  <a:schemeClr val="bg1"/>
                </a:solidFill>
              </a:rPr>
              <a:t>, A., et al., “AI-Powered System for Detecting, Diagnosing and Rehabilitating Strabismus,” IEEE, 2023.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000" dirty="0" smtClean="0">
                <a:solidFill>
                  <a:schemeClr val="bg1"/>
                </a:solidFill>
              </a:rPr>
              <a:t>Lee</a:t>
            </a:r>
            <a:r>
              <a:rPr lang="en-US" sz="2000" dirty="0">
                <a:solidFill>
                  <a:schemeClr val="bg1"/>
                </a:solidFill>
              </a:rPr>
              <a:t>, M., et al., “AI-Assisted Strabismus Diagnosis using Eye Tracking and Machine Learning,” MDPI Diagnostics, 2026.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000" dirty="0" err="1" smtClean="0">
                <a:solidFill>
                  <a:schemeClr val="bg1"/>
                </a:solidFill>
              </a:rPr>
              <a:t>Chawuthai</a:t>
            </a:r>
            <a:r>
              <a:rPr lang="en-US" sz="2000" dirty="0">
                <a:solidFill>
                  <a:schemeClr val="bg1"/>
                </a:solidFill>
              </a:rPr>
              <a:t>, R., et al., “Strabismus Screening using Mobile Phone Images and Transformer Models,” Nature Scientific Reports, 2026.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000" dirty="0" err="1" smtClean="0">
                <a:solidFill>
                  <a:schemeClr val="bg1"/>
                </a:solidFill>
              </a:rPr>
              <a:t>Celik</a:t>
            </a:r>
            <a:r>
              <a:rPr lang="en-US" sz="2000" dirty="0">
                <a:solidFill>
                  <a:schemeClr val="bg1"/>
                </a:solidFill>
              </a:rPr>
              <a:t>, C., &amp; </a:t>
            </a:r>
            <a:r>
              <a:rPr lang="en-US" sz="2000" dirty="0" err="1">
                <a:solidFill>
                  <a:schemeClr val="bg1"/>
                </a:solidFill>
              </a:rPr>
              <a:t>Yücedağ</a:t>
            </a:r>
            <a:r>
              <a:rPr lang="en-US" sz="2000" dirty="0">
                <a:solidFill>
                  <a:schemeClr val="bg1"/>
                </a:solidFill>
              </a:rPr>
              <a:t>, İ., “Deep Learning in Retinal Image Processing: A Review,” Springer, 2026.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smtClean="0">
                <a:solidFill>
                  <a:schemeClr val="bg1"/>
                </a:solidFill>
              </a:rPr>
              <a:t>Lee</a:t>
            </a:r>
            <a:r>
              <a:rPr lang="en-US" sz="2000" dirty="0">
                <a:solidFill>
                  <a:schemeClr val="bg1"/>
                </a:solidFill>
              </a:rPr>
              <a:t>, J., et al., “Deep Learning-Based Eye Region Cropping for Strabismus Detection,” Journal of Medical Internet Research, 2025. </a:t>
            </a:r>
            <a:endParaRPr lang="en-US" dirty="0">
              <a:solidFill>
                <a:schemeClr val="bg1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1884</Words>
  <Application>Microsoft Office PowerPoint</Application>
  <PresentationFormat>Custom</PresentationFormat>
  <Paragraphs>295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Horizon</vt:lpstr>
      <vt:lpstr>Century Gothic Paneuropean</vt:lpstr>
      <vt:lpstr>Century Gothic Paneuropean Bold</vt:lpstr>
      <vt:lpstr>Calibri</vt:lpstr>
      <vt:lpstr>Times New Roman</vt:lpstr>
      <vt:lpstr>Times New Roman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Professional Project Presentation</dc:title>
  <dc:creator>pc</dc:creator>
  <cp:lastModifiedBy>Microsoft account</cp:lastModifiedBy>
  <cp:revision>10</cp:revision>
  <dcterms:created xsi:type="dcterms:W3CDTF">2006-08-16T00:00:00Z</dcterms:created>
  <dcterms:modified xsi:type="dcterms:W3CDTF">2026-05-05T17:27:28Z</dcterms:modified>
  <dc:identifier>DAHFhorJBJ8</dc:identifier>
</cp:coreProperties>
</file>